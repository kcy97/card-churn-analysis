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4E7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560320"/>
            <a:ext cx="12188952" cy="73152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1247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</a:rPr>
              <a:t>카드사 고객 이탈 분석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28600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FFFFFF"/>
                </a:solidFill>
              </a:rPr>
              <a:t>과거 이탈 패턴 기반 위험군 식별 및 전략 도출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CADCFC"/>
                </a:solidFill>
              </a:rPr>
              <a:t>BankChurners Dataset  |  2026-04-22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4E7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분석 개요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</a:rPr>
              <a:t>데이터: BankChurners.csv  |  10,127명  |  21개 변수  |  DB: MySQL
분석 흐름:
① EDA → ② XGBoost 이탈 패턴 모델 + SHAP → ③ 위험도 5분위 세분화 → ④ 고위험 유지 고객 특성 분석 → ⑤ 전략 및 기대효과
※ 본 모델은 시계열 부재로 인해 특정 시점 예측이 아닌
   과거 이탈 패턴과의 유사도 기반 위험군 식별 모델임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4E7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EDA — 이탈 현황</a:t>
            </a:r>
          </a:p>
        </p:txBody>
      </p:sp>
      <p:pic>
        <p:nvPicPr>
          <p:cNvPr id="4" name="Picture 3" descr="fig_01_churn_over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97280"/>
            <a:ext cx="7315200" cy="4114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046720" y="1371600"/>
            <a:ext cx="3657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FFFFFF"/>
                </a:solidFill>
              </a:rPr>
              <a:t>이탈률
16.1%
이탈
1,627명
유지
8,500명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4E7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EDA — 카드 사용 행동 분포</a:t>
            </a:r>
          </a:p>
        </p:txBody>
      </p:sp>
      <p:pic>
        <p:nvPicPr>
          <p:cNvPr id="4" name="Picture 3" descr="fig_03_behavi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97280"/>
            <a:ext cx="11430000" cy="530352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4E7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XGBoost + SHAP — 변수 중요도</a:t>
            </a:r>
          </a:p>
        </p:txBody>
      </p:sp>
      <p:pic>
        <p:nvPicPr>
          <p:cNvPr id="4" name="Picture 3" descr="fig_shap_direc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97280"/>
            <a:ext cx="6858000" cy="50292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0" y="1188720"/>
            <a:ext cx="4572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핵심 인사이트
① 거래건수 낮을수록 이탈 확률 ↑
② 직전 분기 대비 거래 감소 추세
    → 가장 강한 이탈 신호
③ 연락 횟수 많을수록 이탈 확률 ↑
    (불만 누적 신호)
④ 보유 금융상품 많을수록 이탈 ↓
    (관계 강화 효과)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4E7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위험도 5분위 세분화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188720"/>
          <a:ext cx="685800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4500"/>
                <a:gridCol w="1714500"/>
                <a:gridCol w="1714500"/>
                <a:gridCol w="1714500"/>
              </a:tblGrid>
              <a:tr h="53340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위험도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고객 수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실제 이탈률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평균 거래건수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FFFFFF"/>
                          </a:solidFill>
                        </a:rPr>
                        <a:t>매우낮음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FFFFFF"/>
                          </a:solidFill>
                        </a:rPr>
                        <a:t>2,026명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FFFFFF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FFFFFF"/>
                          </a:solidFill>
                        </a:rPr>
                        <a:t>76.4건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FFFFFF"/>
                          </a:solidFill>
                        </a:rPr>
                        <a:t>낮음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FFFFFF"/>
                          </a:solidFill>
                        </a:rPr>
                        <a:t>2,025명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FFFFFF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FFFFFF"/>
                          </a:solidFill>
                        </a:rPr>
                        <a:t>75.8건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FFFFFF"/>
                          </a:solidFill>
                        </a:rPr>
                        <a:t>보통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FFFFFF"/>
                          </a:solidFill>
                        </a:rPr>
                        <a:t>2,025명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FFFFFF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FFFFFF"/>
                          </a:solidFill>
                        </a:rPr>
                        <a:t>70.5건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FFFFFF"/>
                          </a:solidFill>
                        </a:rPr>
                        <a:t>높음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FFFFFF"/>
                          </a:solidFill>
                        </a:rPr>
                        <a:t>2,025명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FFFFFF"/>
                          </a:solidFill>
                        </a:rPr>
                        <a:t>0.4%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FFFFFF"/>
                          </a:solidFill>
                        </a:rPr>
                        <a:t>56.3건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FFFFFF"/>
                          </a:solidFill>
                        </a:rPr>
                        <a:t>매우높음</a:t>
                      </a:r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FFFFFF"/>
                          </a:solidFill>
                        </a:rPr>
                        <a:t>2,026명</a:t>
                      </a:r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FFFFFF"/>
                          </a:solidFill>
                        </a:rPr>
                        <a:t>80.0%</a:t>
                      </a:r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FFFFFF"/>
                          </a:solidFill>
                        </a:rPr>
                        <a:t>45.3건</a:t>
                      </a:r>
                    </a:p>
                  </a:txBody>
                  <a:tcPr>
                    <a:solidFill>
                      <a:srgbClr val="C00000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589520" y="1371600"/>
            <a:ext cx="4114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C0CB"/>
                </a:solidFill>
              </a:rPr>
              <a:t>매우높음 그룹
실제 이탈률 80%
→ 모델 유효성 확인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4E7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고위험 유지 고객 특성 (408명)</a:t>
            </a:r>
          </a:p>
        </p:txBody>
      </p:sp>
      <p:pic>
        <p:nvPicPr>
          <p:cNvPr id="4" name="Picture 3" descr="fig_highrisk_profi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97280"/>
            <a:ext cx="11430000" cy="53035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4E7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전략 및 기대효과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5943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</a:rPr>
              <a:t>전략 방향
① 보유 금융상품 3개 이하  →  추가 상품 가입 유도 (적금, 대출 연계)
② 남성 비중 높음  →  캐시백 중심 실용 혜택 강화
③ 소득 $40K~$80K 집중  →  소득 구간별 맞춤 포인트/할인 제공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1097280"/>
            <a:ext cx="5486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기대효과
보수적 (20%)  →  82명 유지
                       $212,727 거래액 보존
중간 (25%)    →  102명 유지
                       $264,612 거래액 보존
낙관적 (30%)  →  122명 유지
                       $316,496 거래액 보존
※ 수익 = 거래액 × 수수료율(1~2%)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4E7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286000"/>
            <a:ext cx="12188952" cy="73152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FFFFFF"/>
                </a:solidFill>
              </a:rPr>
              <a:t>결론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743200"/>
            <a:ext cx="112471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FFFFFF"/>
                </a:solidFill>
              </a:rPr>
              <a:t>이탈은 누가 떠나는가(인구통계)보다 어떻게 쓰는가(행동)가 결정한다
거래 감소 추세 + 연락 증가 패턴이 포착되면 선제 개입이 필요하다
고위험 유지 고객 408명에 대한 맞춤 전략 실행 시
업계 평균 기준 연간 최대 $316,496 거래액 보존 가능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